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2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645920"/>
            <a:ext cx="7680960" cy="17799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rPr dirty="0"/>
              <a:t>PROJECT P_098</a:t>
            </a:r>
          </a:p>
          <a:p>
            <a:pPr>
              <a:spcAft>
                <a:spcPts val="1000"/>
              </a:spcAft>
              <a:defRPr sz="3600" b="1">
                <a:solidFill>
                  <a:srgbClr val="0F172A"/>
                </a:solidFill>
              </a:defRPr>
            </a:pPr>
            <a:r>
              <a:rPr dirty="0"/>
              <a:t>Emotion Detection from Text</a:t>
            </a:r>
          </a:p>
          <a:p>
            <a:pPr>
              <a:spcAft>
                <a:spcPts val="2800"/>
              </a:spcAft>
              <a:defRPr sz="1600">
                <a:solidFill>
                  <a:srgbClr val="64748B"/>
                </a:solidFill>
              </a:defRPr>
            </a:pPr>
            <a:r>
              <a:rPr dirty="0"/>
              <a:t>A Hybrid Multi-Engine NLP Architecture with Sarcasm Flagging and Calibrated Uncertainty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rPr dirty="0"/>
              <a:t>Candidate: Divya</a:t>
            </a:r>
            <a:r>
              <a:rPr lang="en-IN" dirty="0" err="1"/>
              <a:t>nsh</a:t>
            </a:r>
            <a:r>
              <a:rPr lang="en-IN" dirty="0"/>
              <a:t> Yadav</a:t>
            </a:r>
            <a:r>
              <a:rPr dirty="0"/>
              <a:t>  |  HCL Industrial Training  |  Backend: Flask &amp; </a:t>
            </a:r>
            <a:r>
              <a:rPr dirty="0" err="1"/>
              <a:t>PyTorch</a:t>
            </a:r>
            <a:r>
              <a:rPr dirty="0"/>
              <a:t> Transformer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6809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HCL INDUSTRIAL TRAINING &amp;BULL; P_098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1. Problem Statement &amp; User Personas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200"/>
              </a:spcAft>
              <a:defRPr sz="1300">
                <a:solidFill>
                  <a:srgbClr val="334155"/>
                </a:solidFill>
              </a:defRPr>
            </a:pPr>
            <a:r>
              <a:rPr b="1">
                <a:solidFill>
                  <a:srgbClr val="0F172A"/>
                </a:solidFill>
              </a:rPr>
              <a:t>Affective Ambiguity: </a:t>
            </a:r>
            <a:r>
              <a:t>Raw text often carries conflicting emotional markers, slang, and emojis that standard sentiment polarity (+/-) fails to resolve.</a:t>
            </a:r>
          </a:p>
          <a:p>
            <a:pPr>
              <a:spcAft>
                <a:spcPts val="1200"/>
              </a:spcAft>
              <a:defRPr sz="1300">
                <a:solidFill>
                  <a:srgbClr val="334155"/>
                </a:solidFill>
              </a:defRPr>
            </a:pPr>
            <a:r>
              <a:rPr b="1">
                <a:solidFill>
                  <a:srgbClr val="0F172A"/>
                </a:solidFill>
              </a:rPr>
              <a:t>The Sarcasm Trap: </a:t>
            </a:r>
            <a:r>
              <a:t>Ironic utterances like 'Oh fantastic, another delayed flight' contain positive words but convey frustration; failing to detect sarcasm corrupts downstream metrics.</a:t>
            </a:r>
          </a:p>
          <a:p>
            <a:pPr>
              <a:spcAft>
                <a:spcPts val="1200"/>
              </a:spcAft>
              <a:defRPr sz="1300">
                <a:solidFill>
                  <a:srgbClr val="334155"/>
                </a:solidFill>
              </a:defRPr>
            </a:pPr>
            <a:r>
              <a:rPr b="1">
                <a:solidFill>
                  <a:srgbClr val="0F172A"/>
                </a:solidFill>
              </a:rPr>
              <a:t>Target Personas: </a:t>
            </a:r>
            <a:r>
              <a:t>Customer Experience (CX) escalation triage, Social Listening Brand Analysts, and Voice-of-Customer conversational auditing.</a:t>
            </a:r>
          </a:p>
          <a:p>
            <a:pPr>
              <a:spcAft>
                <a:spcPts val="1200"/>
              </a:spcAft>
              <a:defRPr sz="1300">
                <a:solidFill>
                  <a:srgbClr val="334155"/>
                </a:solidFill>
              </a:defRPr>
            </a:pPr>
            <a:r>
              <a:rPr b="1">
                <a:solidFill>
                  <a:srgbClr val="0F172A"/>
                </a:solidFill>
              </a:rPr>
              <a:t>Core Objective: </a:t>
            </a:r>
            <a:r>
              <a:t>Deliver a deterministic, explainable classification system across 7 discrete emotion labels + explicit sarcasm detection.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6809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HCL INDUSTRIAL TRAINING &amp;BULL; P_098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2. Target Architecture: The 6 Hybrid Engines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200"/>
              </a:spcAft>
              <a:defRPr sz="1300">
                <a:solidFill>
                  <a:srgbClr val="334155"/>
                </a:solidFill>
              </a:defRPr>
            </a:pPr>
            <a:r>
              <a:rPr b="1">
                <a:solidFill>
                  <a:srgbClr val="0F172A"/>
                </a:solidFill>
              </a:rPr>
              <a:t>1. Rule Engine (rules.py): </a:t>
            </a:r>
            <a:r>
              <a:t>Deterministic emoji translation, slang normalization, contrast marker detection, and punctuation intensity analysis.</a:t>
            </a:r>
          </a:p>
          <a:p>
            <a:pPr>
              <a:spcAft>
                <a:spcPts val="1200"/>
              </a:spcAft>
              <a:defRPr sz="1300">
                <a:solidFill>
                  <a:srgbClr val="334155"/>
                </a:solidFill>
              </a:defRPr>
            </a:pPr>
            <a:r>
              <a:rPr b="1">
                <a:solidFill>
                  <a:srgbClr val="0F172A"/>
                </a:solidFill>
              </a:rPr>
              <a:t>2. Emotion Model (emotion_model.py): </a:t>
            </a:r>
            <a:r>
              <a:t>Pretrained DistilRoBERTa 7-class transformer (anger, disgust, fear, joy, neutral, sadness, surprise).</a:t>
            </a:r>
          </a:p>
          <a:p>
            <a:pPr>
              <a:spcAft>
                <a:spcPts val="1200"/>
              </a:spcAft>
              <a:defRPr sz="1300">
                <a:solidFill>
                  <a:srgbClr val="334155"/>
                </a:solidFill>
              </a:defRPr>
            </a:pPr>
            <a:r>
              <a:rPr b="1">
                <a:solidFill>
                  <a:srgbClr val="0F172A"/>
                </a:solidFill>
              </a:rPr>
              <a:t>3. Sarcasm Model (sarcasm_model.py): </a:t>
            </a:r>
            <a:r>
              <a:t>Specialized sarcasm transformer blended with punctuation contrast cues.</a:t>
            </a:r>
          </a:p>
          <a:p>
            <a:pPr>
              <a:spcAft>
                <a:spcPts val="1200"/>
              </a:spcAft>
              <a:defRPr sz="1300">
                <a:solidFill>
                  <a:srgbClr val="334155"/>
                </a:solidFill>
              </a:defRPr>
            </a:pPr>
            <a:r>
              <a:rPr b="1">
                <a:solidFill>
                  <a:srgbClr val="0F172A"/>
                </a:solidFill>
              </a:rPr>
              <a:t>4. Retrieval / RAG (retrieval.py): </a:t>
            </a:r>
            <a:r>
              <a:t>Semantic search over emotion knowledge base &amp; exemplar corpus; yields k-NN vote + grounding evidence.</a:t>
            </a:r>
          </a:p>
          <a:p>
            <a:pPr>
              <a:spcAft>
                <a:spcPts val="1200"/>
              </a:spcAft>
              <a:defRPr sz="1300">
                <a:solidFill>
                  <a:srgbClr val="334155"/>
                </a:solidFill>
              </a:defRPr>
            </a:pPr>
            <a:r>
              <a:rPr b="1">
                <a:solidFill>
                  <a:srgbClr val="0F172A"/>
                </a:solidFill>
              </a:rPr>
              <a:t>5. Signal Fusion (fusion.py): </a:t>
            </a:r>
            <a:r>
              <a:t>Deterministic probability blending, margin calibration, and uncertainty calculation.</a:t>
            </a:r>
          </a:p>
          <a:p>
            <a:pPr>
              <a:spcAft>
                <a:spcPts val="1200"/>
              </a:spcAft>
              <a:defRPr sz="1300">
                <a:solidFill>
                  <a:srgbClr val="334155"/>
                </a:solidFill>
              </a:defRPr>
            </a:pPr>
            <a:r>
              <a:rPr b="1">
                <a:solidFill>
                  <a:srgbClr val="0F172A"/>
                </a:solidFill>
              </a:rPr>
              <a:t>6. Bounded LLM Rationale (llm.py): </a:t>
            </a:r>
            <a:r>
              <a:t>Generates grounded 1-2 sentence explanation; NEVER allowed to decide or flip labels.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6809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HCL INDUSTRIAL TRAINING &amp;BULL; P_098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3. Deterministic Decision vs. Bounded Rationale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200"/>
              </a:spcAft>
              <a:defRPr sz="1300">
                <a:solidFill>
                  <a:srgbClr val="334155"/>
                </a:solidFill>
              </a:defRPr>
            </a:pPr>
            <a:r>
              <a:rPr b="1">
                <a:solidFill>
                  <a:srgbClr val="0F172A"/>
                </a:solidFill>
              </a:rPr>
              <a:t>Anti-Hallucination Guardrail: </a:t>
            </a:r>
            <a:r>
              <a:t>Classification decisions must be 100% reproducible and grounded in probabilistic model outputs, never in stochastic LLM generation.</a:t>
            </a:r>
          </a:p>
          <a:p>
            <a:pPr>
              <a:spcAft>
                <a:spcPts val="1200"/>
              </a:spcAft>
              <a:defRPr sz="1300">
                <a:solidFill>
                  <a:srgbClr val="334155"/>
                </a:solidFill>
              </a:defRPr>
            </a:pPr>
            <a:r>
              <a:rPr b="1">
                <a:solidFill>
                  <a:srgbClr val="0F172A"/>
                </a:solidFill>
              </a:rPr>
              <a:t>Bounded Explanations: </a:t>
            </a:r>
            <a:r>
              <a:t>The LLM receives strictly: input utterance, predicted label, top score margin, and retrieved reference exemplars.</a:t>
            </a:r>
          </a:p>
          <a:p>
            <a:pPr>
              <a:spcAft>
                <a:spcPts val="1200"/>
              </a:spcAft>
              <a:defRPr sz="1300">
                <a:solidFill>
                  <a:srgbClr val="334155"/>
                </a:solidFill>
              </a:defRPr>
            </a:pPr>
            <a:r>
              <a:rPr b="1">
                <a:solidFill>
                  <a:srgbClr val="0F172A"/>
                </a:solidFill>
              </a:rPr>
              <a:t>Fallback Resilience: </a:t>
            </a:r>
            <a:r>
              <a:t>If the OpenAI API is offline or unconfigured, the system immediately falls back to a deterministic rule-based template without breaking user experience.</a:t>
            </a:r>
          </a:p>
          <a:p>
            <a:pPr>
              <a:spcAft>
                <a:spcPts val="1200"/>
              </a:spcAft>
              <a:defRPr sz="1300">
                <a:solidFill>
                  <a:srgbClr val="334155"/>
                </a:solidFill>
              </a:defRPr>
            </a:pPr>
            <a:r>
              <a:rPr b="1">
                <a:solidFill>
                  <a:srgbClr val="0F172A"/>
                </a:solidFill>
              </a:rPr>
              <a:t>Structured JSON Contract: </a:t>
            </a:r>
            <a:r>
              <a:t>LLM responds in verified JSON: { 'explanation': '...', 'confidence_reason': '...' } with auto-retry.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6809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HCL INDUSTRIAL TRAINING &amp;BULL; P_098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4. Single Source of Truth &amp; /inspect Parity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200"/>
              </a:spcAft>
              <a:defRPr sz="1300">
                <a:solidFill>
                  <a:srgbClr val="334155"/>
                </a:solidFill>
              </a:defRPr>
            </a:pPr>
            <a:r>
              <a:rPr b="1">
                <a:solidFill>
                  <a:srgbClr val="0F172A"/>
                </a:solidFill>
              </a:rPr>
              <a:t>True Parity Architecture: </a:t>
            </a:r>
            <a:r>
              <a:t>The frontend computes zero metrics client-side. The backend executes the pipeline, persists the AnalysisResult to SQLite, and returns the response.</a:t>
            </a:r>
          </a:p>
          <a:p>
            <a:pPr>
              <a:spcAft>
                <a:spcPts val="1200"/>
              </a:spcAft>
              <a:defRPr sz="1300">
                <a:solidFill>
                  <a:srgbClr val="334155"/>
                </a:solidFill>
              </a:defRPr>
            </a:pPr>
            <a:r>
              <a:rPr b="1">
                <a:solidFill>
                  <a:srgbClr val="0F172A"/>
                </a:solidFill>
              </a:rPr>
              <a:t>Server-Rendered /inspect View: </a:t>
            </a:r>
            <a:r>
              <a:t>Teachers and auditors can navigate to http://127.0.0.1:5000/inspect to review all persisted runs directly from the database.</a:t>
            </a:r>
          </a:p>
          <a:p>
            <a:pPr>
              <a:spcAft>
                <a:spcPts val="1200"/>
              </a:spcAft>
              <a:defRPr sz="1300">
                <a:solidFill>
                  <a:srgbClr val="334155"/>
                </a:solidFill>
              </a:defRPr>
            </a:pPr>
            <a:r>
              <a:rPr b="1">
                <a:solidFill>
                  <a:srgbClr val="0F172A"/>
                </a:solidFill>
              </a:rPr>
              <a:t>Full Execution Trace: </a:t>
            </a:r>
            <a:r>
              <a:t>Every record stores the exact route taken (e.g. input_validation -&gt; rules -&gt; transformer -&gt; fusion -&gt; rationale), latency in ms, and grounding evidence.</a:t>
            </a:r>
          </a:p>
          <a:p>
            <a:pPr>
              <a:spcAft>
                <a:spcPts val="1200"/>
              </a:spcAft>
              <a:defRPr sz="1300">
                <a:solidFill>
                  <a:srgbClr val="334155"/>
                </a:solidFill>
              </a:defRPr>
            </a:pPr>
            <a:r>
              <a:rPr b="1">
                <a:solidFill>
                  <a:srgbClr val="0F172A"/>
                </a:solidFill>
              </a:rPr>
              <a:t>Structured Observability: </a:t>
            </a:r>
            <a:r>
              <a:t>Structured JSON request logs written per transaction for production auditing.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6809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HCL INDUSTRIAL TRAINING &amp;BULL; P_098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5. Model Evaluation &amp; Empirical Benchmark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200"/>
              </a:spcAft>
              <a:defRPr sz="1300">
                <a:solidFill>
                  <a:srgbClr val="334155"/>
                </a:solidFill>
              </a:defRPr>
            </a:pPr>
            <a:r>
              <a:rPr b="1">
                <a:solidFill>
                  <a:srgbClr val="0F172A"/>
                </a:solidFill>
              </a:rPr>
              <a:t>Macro-F1 Emotion Score: </a:t>
            </a:r>
            <a:r>
              <a:t>Exceeds the 0.70 project threshold on gold evaluation dataset across all 7 emotions.</a:t>
            </a:r>
          </a:p>
          <a:p>
            <a:pPr>
              <a:spcAft>
                <a:spcPts val="1200"/>
              </a:spcAft>
              <a:defRPr sz="1300">
                <a:solidFill>
                  <a:srgbClr val="334155"/>
                </a:solidFill>
              </a:defRPr>
            </a:pPr>
            <a:r>
              <a:rPr b="1">
                <a:solidFill>
                  <a:srgbClr val="0F172A"/>
                </a:solidFill>
              </a:rPr>
              <a:t>Sarcasm F1 Score: </a:t>
            </a:r>
            <a:r>
              <a:t>Achieves robust precision/recall on ironic customer utterances with strong punctuation contrast.</a:t>
            </a:r>
          </a:p>
          <a:p>
            <a:pPr>
              <a:spcAft>
                <a:spcPts val="1200"/>
              </a:spcAft>
              <a:defRPr sz="1300">
                <a:solidFill>
                  <a:srgbClr val="334155"/>
                </a:solidFill>
              </a:defRPr>
            </a:pPr>
            <a:r>
              <a:rPr b="1">
                <a:solidFill>
                  <a:srgbClr val="0F172A"/>
                </a:solidFill>
              </a:rPr>
              <a:t>Latency Performance: </a:t>
            </a:r>
            <a:r>
              <a:t>Mean CPU latency &lt; 100 ms per text, enabling real-time interactive usage on standard 8 GB laptops.</a:t>
            </a:r>
          </a:p>
          <a:p>
            <a:pPr>
              <a:spcAft>
                <a:spcPts val="1200"/>
              </a:spcAft>
              <a:defRPr sz="1300">
                <a:solidFill>
                  <a:srgbClr val="334155"/>
                </a:solidFill>
              </a:defRPr>
            </a:pPr>
            <a:r>
              <a:rPr b="1">
                <a:solidFill>
                  <a:srgbClr val="0F172A"/>
                </a:solidFill>
              </a:rPr>
              <a:t>Reproducible Script: </a:t>
            </a:r>
            <a:r>
              <a:t>Full benchmark re-generated via python scripts/evaluate.py with auto-generated charts and markdown reports.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6809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HCL INDUSTRIAL TRAINING &amp;BULL; P_098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6. Hard Edge Cases: Sarcasm &amp; Uncertainty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200"/>
              </a:spcAft>
              <a:defRPr sz="1300">
                <a:solidFill>
                  <a:srgbClr val="334155"/>
                </a:solidFill>
              </a:defRPr>
            </a:pPr>
            <a:r>
              <a:rPr b="1">
                <a:solidFill>
                  <a:srgbClr val="0F172A"/>
                </a:solidFill>
              </a:rPr>
              <a:t>Sarcasm Handling Rule: </a:t>
            </a:r>
            <a:r>
              <a:t>Sarcasm is surfaced as an explicit warning flag, NOT by silently flipping emotion polarity, preserving audit integrity.</a:t>
            </a:r>
          </a:p>
          <a:p>
            <a:pPr>
              <a:spcAft>
                <a:spcPts val="1200"/>
              </a:spcAft>
              <a:defRPr sz="1300">
                <a:solidFill>
                  <a:srgbClr val="334155"/>
                </a:solidFill>
              </a:defRPr>
            </a:pPr>
            <a:r>
              <a:rPr b="1">
                <a:solidFill>
                  <a:srgbClr val="0F172A"/>
                </a:solidFill>
              </a:rPr>
              <a:t>Confidence Margin Calibration: </a:t>
            </a:r>
            <a:r>
              <a:t>When the top score is &lt; 0.40 or top-two margin is &lt; 0.10, the system flags 'Uncertain'.</a:t>
            </a:r>
          </a:p>
          <a:p>
            <a:pPr>
              <a:spcAft>
                <a:spcPts val="1200"/>
              </a:spcAft>
              <a:defRPr sz="1300">
                <a:solidFill>
                  <a:srgbClr val="334155"/>
                </a:solidFill>
              </a:defRPr>
            </a:pPr>
            <a:r>
              <a:rPr b="1">
                <a:solidFill>
                  <a:srgbClr val="0F172A"/>
                </a:solidFill>
              </a:rPr>
              <a:t>Human-in-the-Loop Safeguard: </a:t>
            </a:r>
            <a:r>
              <a:t>Uncertain flags notify operators to review ambiguous cases rather than making overconfident automated mistakes.</a:t>
            </a:r>
          </a:p>
          <a:p>
            <a:pPr>
              <a:spcAft>
                <a:spcPts val="1200"/>
              </a:spcAft>
              <a:defRPr sz="1300">
                <a:solidFill>
                  <a:srgbClr val="334155"/>
                </a:solidFill>
              </a:defRPr>
            </a:pPr>
            <a:r>
              <a:rPr b="1">
                <a:solidFill>
                  <a:srgbClr val="0F172A"/>
                </a:solidFill>
              </a:rPr>
              <a:t>Contrasting Cues: </a:t>
            </a:r>
            <a:r>
              <a:t>Handles sentences with lexical clash (e.g. 'Brilliant job crashing the server') via blended weights.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6809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HCL INDUSTRIAL TRAINING &amp;BULL; P_098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7. Safety Boundaries &amp; Non-Diagnostic Constraints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200"/>
              </a:spcAft>
              <a:defRPr sz="1300">
                <a:solidFill>
                  <a:srgbClr val="334155"/>
                </a:solidFill>
              </a:defRPr>
            </a:pPr>
            <a:r>
              <a:rPr b="1">
                <a:solidFill>
                  <a:srgbClr val="0F172A"/>
                </a:solidFill>
              </a:rPr>
              <a:t>Explicit Analysis Tool: </a:t>
            </a:r>
            <a:r>
              <a:t>Designed strictly for linguistic tone analysis. Explicitly NOT a clinical psychiatric or medical diagnostic tool.</a:t>
            </a:r>
          </a:p>
          <a:p>
            <a:pPr>
              <a:spcAft>
                <a:spcPts val="1200"/>
              </a:spcAft>
              <a:defRPr sz="1300">
                <a:solidFill>
                  <a:srgbClr val="334155"/>
                </a:solidFill>
              </a:defRPr>
            </a:pPr>
            <a:r>
              <a:rPr b="1">
                <a:solidFill>
                  <a:srgbClr val="0F172A"/>
                </a:solidFill>
              </a:rPr>
              <a:t>Clinical Term Redaction: </a:t>
            </a:r>
            <a:r>
              <a:t>Validator automatically strips clinical disorder terms ('bipolar', 'depression diagnosis') from outputs.</a:t>
            </a:r>
          </a:p>
          <a:p>
            <a:pPr>
              <a:spcAft>
                <a:spcPts val="1200"/>
              </a:spcAft>
              <a:defRPr sz="1300">
                <a:solidFill>
                  <a:srgbClr val="334155"/>
                </a:solidFill>
              </a:defRPr>
            </a:pPr>
            <a:r>
              <a:rPr b="1">
                <a:solidFill>
                  <a:srgbClr val="0F172A"/>
                </a:solidFill>
              </a:rPr>
              <a:t>Mandatory Disclaimer: </a:t>
            </a:r>
            <a:r>
              <a:t>Every response payload and UI card embeds an automated non-diagnostic safety disclaimer.</a:t>
            </a:r>
          </a:p>
          <a:p>
            <a:pPr>
              <a:spcAft>
                <a:spcPts val="1200"/>
              </a:spcAft>
              <a:defRPr sz="1300">
                <a:solidFill>
                  <a:srgbClr val="334155"/>
                </a:solidFill>
              </a:defRPr>
            </a:pPr>
            <a:r>
              <a:rPr b="1">
                <a:solidFill>
                  <a:srgbClr val="0F172A"/>
                </a:solidFill>
              </a:rPr>
              <a:t>Prompt Injection Defense: </a:t>
            </a:r>
            <a:r>
              <a:t>User input is sanitized and treated strictly as passive text data, preventing command injection.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6809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HCL INDUSTRIAL TRAINING &amp;BULL; P_098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8. Scalability &amp; Production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200"/>
              </a:spcAft>
              <a:defRPr sz="1300">
                <a:solidFill>
                  <a:srgbClr val="334155"/>
                </a:solidFill>
              </a:defRPr>
            </a:pPr>
            <a:r>
              <a:rPr b="1">
                <a:solidFill>
                  <a:srgbClr val="0F172A"/>
                </a:solidFill>
              </a:rPr>
              <a:t>Stateless Flask Backend: </a:t>
            </a:r>
            <a:r>
              <a:t>Horizontally scalable; model weights loaded as lazy thread-safe process singletons.</a:t>
            </a:r>
          </a:p>
          <a:p>
            <a:pPr>
              <a:spcAft>
                <a:spcPts val="1200"/>
              </a:spcAft>
              <a:defRPr sz="1300">
                <a:solidFill>
                  <a:srgbClr val="334155"/>
                </a:solidFill>
              </a:defRPr>
            </a:pPr>
            <a:r>
              <a:rPr b="1">
                <a:solidFill>
                  <a:srgbClr val="0F172A"/>
                </a:solidFill>
              </a:rPr>
              <a:t>Database Agnostic: </a:t>
            </a:r>
            <a:r>
              <a:t>SQLite for zero-config local dev; swappable to PostgreSQL in production via DATABASE_URL.</a:t>
            </a:r>
          </a:p>
          <a:p>
            <a:pPr>
              <a:spcAft>
                <a:spcPts val="1200"/>
              </a:spcAft>
              <a:defRPr sz="1300">
                <a:solidFill>
                  <a:srgbClr val="334155"/>
                </a:solidFill>
              </a:defRPr>
            </a:pPr>
            <a:r>
              <a:rPr b="1">
                <a:solidFill>
                  <a:srgbClr val="0F172A"/>
                </a:solidFill>
              </a:rPr>
              <a:t>Containerization: </a:t>
            </a:r>
            <a:r>
              <a:t>Production-grade Dockerfile included with non-root user and multi-worker gunicorn setup.</a:t>
            </a:r>
          </a:p>
          <a:p>
            <a:pPr>
              <a:spcAft>
                <a:spcPts val="1200"/>
              </a:spcAft>
              <a:defRPr sz="1300">
                <a:solidFill>
                  <a:srgbClr val="334155"/>
                </a:solidFill>
              </a:defRPr>
            </a:pPr>
            <a:r>
              <a:rPr b="1">
                <a:solidFill>
                  <a:srgbClr val="0F172A"/>
                </a:solidFill>
              </a:rPr>
              <a:t>Batch Throughput: </a:t>
            </a:r>
            <a:r>
              <a:t>Supports high-throughput CSV ingestion up to 500 rows per batch transaction.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6809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HCL INDUSTRIAL TRAINING &amp;BULL; P_098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9. Conclusion &amp; Project Deliverables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200"/>
              </a:spcAft>
              <a:defRPr sz="1300">
                <a:solidFill>
                  <a:srgbClr val="334155"/>
                </a:solidFill>
              </a:defRPr>
            </a:pPr>
            <a:r>
              <a:rPr b="1">
                <a:solidFill>
                  <a:srgbClr val="0F172A"/>
                </a:solidFill>
              </a:rPr>
              <a:t>Comprehensive Codebase: </a:t>
            </a:r>
            <a:r>
              <a:t>Clean backend/app modular tree adhering to the teacher's standard architecture.</a:t>
            </a:r>
          </a:p>
          <a:p>
            <a:pPr>
              <a:spcAft>
                <a:spcPts val="1200"/>
              </a:spcAft>
              <a:defRPr sz="1300">
                <a:solidFill>
                  <a:srgbClr val="334155"/>
                </a:solidFill>
              </a:defRPr>
            </a:pPr>
            <a:r>
              <a:rPr b="1">
                <a:solidFill>
                  <a:srgbClr val="0F172A"/>
                </a:solidFill>
              </a:rPr>
              <a:t>Full Product Handbook: </a:t>
            </a:r>
            <a:r>
              <a:t>Comprehensive documentation in docs/handbook.md covering mechanics, architecture, and API reference.</a:t>
            </a:r>
          </a:p>
          <a:p>
            <a:pPr>
              <a:spcAft>
                <a:spcPts val="1200"/>
              </a:spcAft>
              <a:defRPr sz="1300">
                <a:solidFill>
                  <a:srgbClr val="334155"/>
                </a:solidFill>
              </a:defRPr>
            </a:pPr>
            <a:r>
              <a:rPr b="1">
                <a:solidFill>
                  <a:srgbClr val="0F172A"/>
                </a:solidFill>
              </a:rPr>
              <a:t>Empirical Validation: </a:t>
            </a:r>
            <a:r>
              <a:t>Automated evaluate.py test harness proving accuracy and F1 score benchmarks.</a:t>
            </a:r>
          </a:p>
          <a:p>
            <a:pPr>
              <a:spcAft>
                <a:spcPts val="1200"/>
              </a:spcAft>
              <a:defRPr sz="1300">
                <a:solidFill>
                  <a:srgbClr val="334155"/>
                </a:solidFill>
              </a:defRPr>
            </a:pPr>
            <a:r>
              <a:rPr b="1">
                <a:solidFill>
                  <a:srgbClr val="0F172A"/>
                </a:solidFill>
              </a:rPr>
              <a:t>Presentation Ready: </a:t>
            </a:r>
            <a:r>
              <a:t>End-to-end interactive demo ready with zero external API key requirements.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997</Words>
  <Application>Microsoft Office PowerPoint</Application>
  <PresentationFormat>On-screen Show (4:3)</PresentationFormat>
  <Paragraphs>69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Divyansh Yadav</cp:lastModifiedBy>
  <cp:revision>2</cp:revision>
  <dcterms:created xsi:type="dcterms:W3CDTF">2013-01-27T09:14:16Z</dcterms:created>
  <dcterms:modified xsi:type="dcterms:W3CDTF">2026-09-30T21:31:05Z</dcterms:modified>
  <cp:category/>
</cp:coreProperties>
</file>