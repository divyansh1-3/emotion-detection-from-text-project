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PROJECT P_098</a:t>
            </a:r>
          </a:p>
          <a:p>
            <a:pPr>
              <a:spcAft>
                <a:spcPts val="1000"/>
              </a:spcAft>
              <a:defRPr sz="3600" b="1">
                <a:solidFill>
                  <a:srgbClr val="0F172A"/>
                </a:solidFill>
              </a:defRPr>
            </a:pPr>
            <a:r>
              <a:t>Emotion Detection from Text</a:t>
            </a:r>
          </a:p>
          <a:p>
            <a:pPr>
              <a:spcAft>
                <a:spcPts val="2800"/>
              </a:spcAft>
              <a:defRPr sz="1600">
                <a:solidFill>
                  <a:srgbClr val="64748B"/>
                </a:solidFill>
              </a:defRPr>
            </a:pPr>
            <a:r>
              <a:t>A Hybrid Multi-Engine NLP Architecture with Sarcasm Flagging and Calibrated Uncertainty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Candidate: Divya  |  HCL Industrial Training  |  Backend: Flask &amp; PyTorch Transformer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HCL INDUSTRIAL TRAINING &amp;BULL; P_098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Problem Statement &amp; User Personas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Affective Ambiguity: </a:t>
            </a:r>
            <a:r>
              <a:t>Raw text often carries conflicting emotional markers, slang, and emojis that standard sentiment polarity (+/-) fails to resolve.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The Sarcasm Trap: </a:t>
            </a:r>
            <a:r>
              <a:t>Ironic utterances like 'Oh fantastic, another delayed flight' contain positive words but convey frustration; failing to detect sarcasm corrupts downstream metrics.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Target Personas: </a:t>
            </a:r>
            <a:r>
              <a:t>Customer Experience (CX) escalation triage, Social Listening Brand Analysts, and Voice-of-Customer conversational auditing.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Core Objective: </a:t>
            </a:r>
            <a:r>
              <a:t>Deliver a deterministic, explainable classification system across 7 discrete emotion labels + explicit sarcasm detection.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HCL INDUSTRIAL TRAINING &amp;BULL; P_098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Target Architecture: The 6 Hybrid Engines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1. Rule Engine (rules.py): </a:t>
            </a:r>
            <a:r>
              <a:t>Deterministic emoji translation, slang normalization, contrast marker detection, and punctuation intensity analysis.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2. Emotion Model (emotion_model.py): </a:t>
            </a:r>
            <a:r>
              <a:t>Pretrained DistilRoBERTa 7-class transformer (anger, disgust, fear, joy, neutral, sadness, surprise).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3. Sarcasm Model (sarcasm_model.py): </a:t>
            </a:r>
            <a:r>
              <a:t>Specialized sarcasm transformer blended with punctuation contrast cues.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4. Retrieval / RAG (retrieval.py): </a:t>
            </a:r>
            <a:r>
              <a:t>Semantic search over emotion knowledge base &amp; exemplar corpus; yields k-NN vote + grounding evidence.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5. Signal Fusion (fusion.py): </a:t>
            </a:r>
            <a:r>
              <a:t>Deterministic probability blending, margin calibration, and uncertainty calculation.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6. Bounded LLM Rationale (llm.py): </a:t>
            </a:r>
            <a:r>
              <a:t>Generates grounded 1-2 sentence explanation; NEVER allowed to decide or flip labels.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HCL INDUSTRIAL TRAINING &amp;BULL; P_098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Deterministic Decision vs. Bounded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Anti-Hallucination Guardrail: </a:t>
            </a:r>
            <a:r>
              <a:t>Classification decisions must be 100% reproducible and grounded in probabilistic model outputs, never in stochastic LLM generation.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Bounded Explanations: </a:t>
            </a:r>
            <a:r>
              <a:t>The LLM receives strictly: input utterance, predicted label, top score margin, and retrieved reference exemplars.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Fallback Resilience: </a:t>
            </a:r>
            <a:r>
              <a:t>If the OpenAI API is offline or unconfigured, the system immediately falls back to a deterministic rule-based template without breaking user experience.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Structured JSON Contract: </a:t>
            </a:r>
            <a:r>
              <a:t>LLM responds in verified JSON: { 'explanation': '...', 'confidence_reason': '...' } with auto-retry.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HCL INDUSTRIAL TRAINING &amp;BULL; P_098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Single Source of Truth &amp; /inspect Parity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True Parity Architecture: </a:t>
            </a:r>
            <a:r>
              <a:t>The frontend computes zero metrics client-side. The backend executes the pipeline, persists the AnalysisResult to SQLite, and returns the response.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Server-Rendered /inspect View: </a:t>
            </a:r>
            <a:r>
              <a:t>Teachers and auditors can navigate to http://127.0.0.1:5000/inspect to review all persisted runs directly from the database.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Full Execution Trace: </a:t>
            </a:r>
            <a:r>
              <a:t>Every record stores the exact route taken (e.g. input_validation -&gt; rules -&gt; transformer -&gt; fusion -&gt; rationale), latency in ms, and grounding evidence.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Structured Observability: </a:t>
            </a:r>
            <a:r>
              <a:t>Structured JSON request logs written per transaction for production auditing.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HCL INDUSTRIAL TRAINING &amp;BULL; P_098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Model Evaluation &amp; Empirical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Macro-F1 Emotion Score: </a:t>
            </a:r>
            <a:r>
              <a:t>Exceeds the 0.70 project threshold on gold evaluation dataset across all 7 emotions.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Sarcasm F1 Score: </a:t>
            </a:r>
            <a:r>
              <a:t>Achieves robust precision/recall on ironic customer utterances with strong punctuation contrast.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Latency Performance: </a:t>
            </a:r>
            <a:r>
              <a:t>Mean CPU latency &lt; 100 ms per text, enabling real-time interactive usage on standard 8 GB laptops.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Reproducible Script: </a:t>
            </a:r>
            <a:r>
              <a:t>Full benchmark re-generated via python scripts/evaluate.py with auto-generated charts and markdown reports.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HCL INDUSTRIAL TRAINING &amp;BULL; P_098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Hard Edge Cases: Sarcasm &amp;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Sarcasm Handling Rule: </a:t>
            </a:r>
            <a:r>
              <a:t>Sarcasm is surfaced as an explicit warning flag, NOT by silently flipping emotion polarity, preserving audit integrity.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Confidence Margin Calibration: </a:t>
            </a:r>
            <a:r>
              <a:t>When the top score is &lt; 0.40 or top-two margin is &lt; 0.10, the system flags 'Uncertain'.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Human-in-the-Loop Safeguard: </a:t>
            </a:r>
            <a:r>
              <a:t>Uncertain flags notify operators to review ambiguous cases rather than making overconfident automated mistakes.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Contrasting Cues: </a:t>
            </a:r>
            <a:r>
              <a:t>Handles sentences with lexical clash (e.g. 'Brilliant job crashing the server') via blended weights.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HCL INDUSTRIAL TRAINING &amp;BULL; P_098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7. Safety Boundaries &amp; Non-Diagnostic 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Explicit Analysis Tool: </a:t>
            </a:r>
            <a:r>
              <a:t>Designed strictly for linguistic tone analysis. Explicitly NOT a clinical psychiatric or medical diagnostic tool.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Clinical Term Redaction: </a:t>
            </a:r>
            <a:r>
              <a:t>Validator automatically strips clinical disorder terms ('bipolar', 'depression diagnosis') from outputs.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Mandatory Disclaimer: </a:t>
            </a:r>
            <a:r>
              <a:t>Every response payload and UI card embeds an automated non-diagnostic safety disclaimer.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Prompt Injection Defense: </a:t>
            </a:r>
            <a:r>
              <a:t>User input is sanitized and treated strictly as passive text data, preventing command injection.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HCL INDUSTRIAL TRAINING &amp;BULL; P_098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8. Scalability &amp; Production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Stateless Flask Backend: </a:t>
            </a:r>
            <a:r>
              <a:t>Horizontally scalable; model weights loaded as lazy thread-safe process singletons.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Database Agnostic: </a:t>
            </a:r>
            <a:r>
              <a:t>SQLite for zero-config local dev; swappable to PostgreSQL in production via DATABASE_URL.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Containerization: </a:t>
            </a:r>
            <a:r>
              <a:t>Production-grade Dockerfile included with non-root user and multi-worker gunicorn setup.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Batch Throughput: </a:t>
            </a:r>
            <a:r>
              <a:t>Supports high-throughput CSV ingestion up to 500 rows per batch transaction.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HCL INDUSTRIAL TRAINING &amp;BULL; P_098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9. Conclusion &amp; Project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Comprehensive Codebase: </a:t>
            </a:r>
            <a:r>
              <a:t>Clean backend/app modular tree adhering to the teacher's standard architecture.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Full Product Handbook: </a:t>
            </a:r>
            <a:r>
              <a:t>Comprehensive documentation in docs/handbook.md covering mechanics, architecture, and API reference.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Empirical Validation: </a:t>
            </a:r>
            <a:r>
              <a:t>Automated evaluate.py test harness proving accuracy and F1 score benchmarks.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</a:defRPr>
            </a:pPr>
            <a:r>
              <a:rPr b="1">
                <a:solidFill>
                  <a:srgbClr val="0F172A"/>
                </a:solidFill>
              </a:rPr>
              <a:t>Presentation Ready: </a:t>
            </a:r>
            <a:r>
              <a:t>End-to-end interactive demo ready with zero external API key requirements.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